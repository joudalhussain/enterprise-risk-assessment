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Treatment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5B6FB8"/>
              </a:solidFill>
              <a:effectLst/>
            </c:spPr>
          </c:dPt>
          <c:dPt>
            <c:idx val="2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Mitigate</c:v>
                </c:pt>
                <c:pt idx="1">
                  <c:v>Mitigate/Transfer</c:v>
                </c:pt>
                <c:pt idx="2">
                  <c:v>Accept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13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E2761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097280"/>
            <a:ext cx="3840480" cy="3840480"/>
          </a:xfrm>
          <a:prstGeom prst="ellipse">
            <a:avLst/>
          </a:prstGeom>
          <a:solidFill>
            <a:srgbClr val="263173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389120"/>
            <a:ext cx="2743200" cy="2743200"/>
          </a:xfrm>
          <a:prstGeom prst="ellipse">
            <a:avLst/>
          </a:prstGeom>
          <a:solidFill>
            <a:srgbClr val="26317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RISK ASSESSMENT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063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Waffarah E-Commerce Platform — Business Presentation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703320"/>
            <a:ext cx="201168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Waffarah Leadership  |  August 2026  |  Joud Alhussain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structured, ISO/IEC 27005-aligned risk assessment across Waffarah's data, systems, and people/process assets identified 15 risks requiring management attention — four of them critical.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468880" cy="1737360"/>
          </a:xfrm>
          <a:prstGeom prst="roundRect">
            <a:avLst>
              <a:gd name="adj" fmla="val 5263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488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0632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965960"/>
            <a:ext cx="2468880" cy="1737360"/>
          </a:xfrm>
          <a:prstGeom prst="roundRect">
            <a:avLst>
              <a:gd name="adj" fmla="val 5263"/>
            </a:avLst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3291840" y="21488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0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291840" y="30632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1965960"/>
            <a:ext cx="2468880" cy="1737360"/>
          </a:xfrm>
          <a:prstGeom prst="roundRect">
            <a:avLst>
              <a:gd name="adj" fmla="val 5263"/>
            </a:avLst>
          </a:prstGeom>
          <a:solidFill>
            <a:srgbClr val="F4F6FB"/>
          </a:solidFill>
          <a:ln/>
        </p:spPr>
      </p:sp>
      <p:sp>
        <p:nvSpPr>
          <p:cNvPr id="11" name="Text 9"/>
          <p:cNvSpPr/>
          <p:nvPr/>
        </p:nvSpPr>
        <p:spPr>
          <a:xfrm>
            <a:off x="6035040" y="21488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D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035040" y="30632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78240" y="1965960"/>
            <a:ext cx="2468880" cy="1737360"/>
          </a:xfrm>
          <a:prstGeom prst="roundRect">
            <a:avLst>
              <a:gd name="adj" fmla="val 5263"/>
            </a:avLst>
          </a:prstGeom>
          <a:solidFill>
            <a:srgbClr val="F4F6FB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21488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28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8778240" y="30632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Proposed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114800"/>
            <a:ext cx="1078992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297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461772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critical risks — SQL injection, credential exposure, admin panel access control, and payment card data protection — share overlapping root causes. Addressing the core input-validation and access-control fixes resolves the majority of critical exposure in a single coordinated effort.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Waffarah Enterprise Risk Assessment — Confidential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961120" y="65105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Joud Alhussain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followed the ISO/IEC 27005 information security risk management process.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4688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Establishment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514600" y="2377440"/>
            <a:ext cx="228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43200" y="237744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3A4A93"/>
          </a:solidFill>
          <a:ln/>
        </p:spPr>
      </p:sp>
      <p:sp>
        <p:nvSpPr>
          <p:cNvPr id="9" name="Text 7"/>
          <p:cNvSpPr/>
          <p:nvPr/>
        </p:nvSpPr>
        <p:spPr>
          <a:xfrm>
            <a:off x="2880360" y="24688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834640" y="29260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709160" y="2377440"/>
            <a:ext cx="228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937760" y="237744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5074920" y="24688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29260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903720" y="2377440"/>
            <a:ext cx="228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132320" y="237744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3A4A93"/>
          </a:solidFill>
          <a:ln/>
        </p:spPr>
      </p:sp>
      <p:sp>
        <p:nvSpPr>
          <p:cNvPr id="17" name="Text 15"/>
          <p:cNvSpPr/>
          <p:nvPr/>
        </p:nvSpPr>
        <p:spPr>
          <a:xfrm>
            <a:off x="7269480" y="24688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223760" y="29260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098280" y="2377440"/>
            <a:ext cx="228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326880" y="237744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9464040" y="24688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418320" y="29260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4206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were rated for Confidentiality, Integrity, and Availability (CIA) impact; risks were scored using a Likelihood × Impact matrix consistent with the Enterprise Security Assessment methodology.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Waffarah Enterprise Risk Assessment — Confidential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0" y="65105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Joud Alhussain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Asset Inventory Overview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F4F6F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88720"/>
            <a:ext cx="3474720" cy="640080"/>
          </a:xfrm>
          <a:prstGeom prst="roundRect">
            <a:avLst>
              <a:gd name="adj" fmla="val 1142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Assets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011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Customer PII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Payment card data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Authentication credentials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3520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Order &amp; transaction history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18872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F4F6FB"/>
          </a:solidFill>
          <a:ln/>
        </p:spPr>
      </p:sp>
      <p:sp>
        <p:nvSpPr>
          <p:cNvPr id="11" name="Shape 9"/>
          <p:cNvSpPr/>
          <p:nvPr/>
        </p:nvSpPr>
        <p:spPr>
          <a:xfrm>
            <a:off x="4251960" y="1188720"/>
            <a:ext cx="3474720" cy="640080"/>
          </a:xfrm>
          <a:prstGeom prst="roundRect">
            <a:avLst>
              <a:gd name="adj" fmla="val 11429"/>
            </a:avLst>
          </a:prstGeom>
          <a:solidFill>
            <a:srgbClr val="3A4A93"/>
          </a:solidFill>
          <a:ln/>
        </p:spPr>
      </p:sp>
      <p:sp>
        <p:nvSpPr>
          <p:cNvPr id="12" name="Text 10"/>
          <p:cNvSpPr/>
          <p:nvPr/>
        </p:nvSpPr>
        <p:spPr>
          <a:xfrm>
            <a:off x="4434840" y="11887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&amp; Technology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480560" y="2011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E-commerce web app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2514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Payment processing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80560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Customer database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80560" y="3520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Admin panel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80560" y="4023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Backup systems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955280" y="118872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F4F6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955280" y="1188720"/>
            <a:ext cx="3474720" cy="640080"/>
          </a:xfrm>
          <a:prstGeom prst="roundRect">
            <a:avLst>
              <a:gd name="adj" fmla="val 11429"/>
            </a:avLst>
          </a:prstGeom>
          <a:solidFill>
            <a:srgbClr val="5B6FB8"/>
          </a:solidFill>
          <a:ln/>
        </p:spPr>
      </p:sp>
      <p:sp>
        <p:nvSpPr>
          <p:cNvPr id="20" name="Text 18"/>
          <p:cNvSpPr/>
          <p:nvPr/>
        </p:nvSpPr>
        <p:spPr>
          <a:xfrm>
            <a:off x="8138160" y="11887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&amp; Process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183880" y="2011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Privileged accounts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183880" y="2514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Onboarding/offboarding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183880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Incident response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183880" y="3520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Vendor access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Waffarah Enterprise Risk Assessment — Confidential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61120" y="65105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Joud Alhussain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Risks Requiring Immediate Attention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303520" cy="2286000"/>
          </a:xfrm>
          <a:prstGeom prst="roundRect">
            <a:avLst>
              <a:gd name="adj" fmla="val 3200"/>
            </a:avLst>
          </a:prstGeom>
          <a:solidFill>
            <a:srgbClr val="F4F6FB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463040"/>
            <a:ext cx="502920" cy="502920"/>
          </a:xfrm>
          <a:prstGeom prst="ellipse">
            <a:avLst/>
          </a:prstGeom>
          <a:solidFill>
            <a:srgbClr val="D03B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508760" y="14173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Injection &amp; Broken Access Control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SQL injection bypasses login entirely, granting full admin access. (R3, R4)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26480" y="1188720"/>
            <a:ext cx="5303520" cy="2286000"/>
          </a:xfrm>
          <a:prstGeom prst="roundRect">
            <a:avLst>
              <a:gd name="adj" fmla="val 3200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0" y="1463040"/>
            <a:ext cx="502920" cy="502920"/>
          </a:xfrm>
          <a:prstGeom prst="ellipse">
            <a:avLst/>
          </a:prstGeom>
          <a:solidFill>
            <a:srgbClr val="D03B3B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086600" y="14173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Credential Exposure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0" y="22402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database file found exposed in a public directory.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303520" cy="2286000"/>
          </a:xfrm>
          <a:prstGeom prst="roundRect">
            <a:avLst>
              <a:gd name="adj" fmla="val 3200"/>
            </a:avLst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3977640"/>
            <a:ext cx="502920" cy="502920"/>
          </a:xfrm>
          <a:prstGeom prst="ellipse">
            <a:avLst/>
          </a:prstGeom>
          <a:solidFill>
            <a:srgbClr val="D03B3B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508760" y="39319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Card Data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7548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data protection gaps at rest and in transit.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0" y="3703320"/>
            <a:ext cx="5303520" cy="2286000"/>
          </a:xfrm>
          <a:prstGeom prst="roundRect">
            <a:avLst>
              <a:gd name="adj" fmla="val 3200"/>
            </a:avLst>
          </a:prstGeom>
          <a:solidFill>
            <a:srgbClr val="F4F6FB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0800" y="39776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86600" y="39319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Root Cause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47548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 &amp; access control fixes resolve the majority of these together.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Waffarah Enterprise Risk Assessment — Confidential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961120" y="65105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Joud Alhussain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Matrix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834640" y="141732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5239512" y="141732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ED7D5B"/>
          </a:solidFill>
          <a:ln/>
        </p:spPr>
      </p:sp>
      <p:sp>
        <p:nvSpPr>
          <p:cNvPr id="6" name="Text 4"/>
          <p:cNvSpPr/>
          <p:nvPr/>
        </p:nvSpPr>
        <p:spPr>
          <a:xfrm>
            <a:off x="5330952" y="141732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exposure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644384" y="141732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D03B3B"/>
          </a:solidFill>
          <a:ln/>
        </p:spPr>
      </p:sp>
      <p:sp>
        <p:nvSpPr>
          <p:cNvPr id="8" name="Text 6"/>
          <p:cNvSpPr/>
          <p:nvPr/>
        </p:nvSpPr>
        <p:spPr>
          <a:xfrm>
            <a:off x="7735824" y="141732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 → Admin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Access, Payment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2724912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2724912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AB219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2724912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access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239512" y="2724912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ED7D5B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2724912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exploitation,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compliance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44384" y="2724912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4F6F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032504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34640" y="4032504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4F6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239512" y="4032504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AB219"/>
          </a:solidFill>
          <a:ln/>
        </p:spPr>
      </p:sp>
      <p:sp>
        <p:nvSpPr>
          <p:cNvPr id="18" name="Text 16"/>
          <p:cNvSpPr/>
          <p:nvPr/>
        </p:nvSpPr>
        <p:spPr>
          <a:xfrm>
            <a:off x="5330952" y="4032504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manipulation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644384" y="4032504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0CA30C"/>
          </a:solidFill>
          <a:ln/>
        </p:spPr>
      </p:sp>
      <p:sp>
        <p:nvSpPr>
          <p:cNvPr id="20" name="Text 18"/>
          <p:cNvSpPr/>
          <p:nvPr/>
        </p:nvSpPr>
        <p:spPr>
          <a:xfrm>
            <a:off x="7735824" y="4032504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record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834640" y="8229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39512" y="8229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644384" y="8229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834640" y="5623560"/>
            <a:ext cx="228600" cy="228600"/>
          </a:xfrm>
          <a:prstGeom prst="roundRect">
            <a:avLst/>
          </a:prstGeom>
          <a:solidFill>
            <a:srgbClr val="D03B3B"/>
          </a:solidFill>
          <a:ln/>
        </p:spPr>
      </p:sp>
      <p:sp>
        <p:nvSpPr>
          <p:cNvPr id="25" name="Text 23"/>
          <p:cNvSpPr/>
          <p:nvPr/>
        </p:nvSpPr>
        <p:spPr>
          <a:xfrm>
            <a:off x="3154680" y="5577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0" y="5623560"/>
            <a:ext cx="228600" cy="228600"/>
          </a:xfrm>
          <a:prstGeom prst="roundRect">
            <a:avLst/>
          </a:prstGeom>
          <a:solidFill>
            <a:srgbClr val="ED7D5B"/>
          </a:solidFill>
          <a:ln/>
        </p:spPr>
      </p:sp>
      <p:sp>
        <p:nvSpPr>
          <p:cNvPr id="27" name="Text 25"/>
          <p:cNvSpPr/>
          <p:nvPr/>
        </p:nvSpPr>
        <p:spPr>
          <a:xfrm>
            <a:off x="4892040" y="5577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09360" y="5623560"/>
            <a:ext cx="228600" cy="228600"/>
          </a:xfrm>
          <a:prstGeom prst="roundRect">
            <a:avLst/>
          </a:prstGeom>
          <a:solidFill>
            <a:srgbClr val="FAB219"/>
          </a:solidFill>
          <a:ln/>
        </p:spPr>
      </p:sp>
      <p:sp>
        <p:nvSpPr>
          <p:cNvPr id="29" name="Text 27"/>
          <p:cNvSpPr/>
          <p:nvPr/>
        </p:nvSpPr>
        <p:spPr>
          <a:xfrm>
            <a:off x="6629400" y="5577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46720" y="5623560"/>
            <a:ext cx="228600" cy="228600"/>
          </a:xfrm>
          <a:prstGeom prst="roundRect">
            <a:avLst/>
          </a:prstGeom>
          <a:solidFill>
            <a:srgbClr val="0CA30C"/>
          </a:solidFill>
          <a:ln/>
        </p:spPr>
      </p:sp>
      <p:sp>
        <p:nvSpPr>
          <p:cNvPr id="31" name="Text 29"/>
          <p:cNvSpPr/>
          <p:nvPr/>
        </p:nvSpPr>
        <p:spPr>
          <a:xfrm>
            <a:off x="8366760" y="5577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Waffarah Enterprise Risk Assessment — Confidential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961120" y="65105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Joud Alhussain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Treatment Approach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8872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120640" y="1280160"/>
            <a:ext cx="6217920" cy="1280160"/>
          </a:xfrm>
          <a:prstGeom prst="roundRect">
            <a:avLst>
              <a:gd name="adj" fmla="val 5714"/>
            </a:avLst>
          </a:prstGeom>
          <a:solidFill>
            <a:srgbClr val="F4F6FB"/>
          </a:solidFill>
          <a:ln/>
        </p:spPr>
      </p:sp>
      <p:sp>
        <p:nvSpPr>
          <p:cNvPr id="5" name="Text 2"/>
          <p:cNvSpPr/>
          <p:nvPr/>
        </p:nvSpPr>
        <p:spPr>
          <a:xfrm>
            <a:off x="5394960" y="128016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of 15 risks require active mitigation — concrete technical or process controls.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120640" y="2788920"/>
            <a:ext cx="6217920" cy="1280160"/>
          </a:xfrm>
          <a:prstGeom prst="roundRect">
            <a:avLst>
              <a:gd name="adj" fmla="val 5714"/>
            </a:avLst>
          </a:prstGeom>
          <a:solidFill>
            <a:srgbClr val="F4F6FB"/>
          </a:solidFill>
          <a:ln/>
        </p:spPr>
      </p:sp>
      <p:sp>
        <p:nvSpPr>
          <p:cNvPr id="7" name="Text 4"/>
          <p:cNvSpPr/>
          <p:nvPr/>
        </p:nvSpPr>
        <p:spPr>
          <a:xfrm>
            <a:off x="5394960" y="278892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risk (vendor access) combines mitigation with contractual transfer of responsibility.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120640" y="4297680"/>
            <a:ext cx="6217920" cy="1280160"/>
          </a:xfrm>
          <a:prstGeom prst="roundRect">
            <a:avLst>
              <a:gd name="adj" fmla="val 5714"/>
            </a:avLst>
          </a:prstGeom>
          <a:solidFill>
            <a:srgbClr val="F4F6FB"/>
          </a:solidFill>
          <a:ln/>
        </p:spPr>
      </p:sp>
      <p:sp>
        <p:nvSpPr>
          <p:cNvPr id="9" name="Text 6"/>
          <p:cNvSpPr/>
          <p:nvPr/>
        </p:nvSpPr>
        <p:spPr>
          <a:xfrm>
            <a:off x="5394960" y="429768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risk (support record exposure) is accepted given its low severity — not every risk warrants active investment.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Waffarah Enterprise Risk Assessment — Confidential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961120" y="65105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Joud Alhussain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Remediation Roadmap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474720" cy="594360"/>
          </a:xfrm>
          <a:prstGeom prst="roundRect">
            <a:avLst>
              <a:gd name="adj" fmla="val 12308"/>
            </a:avLst>
          </a:prstGeom>
          <a:solidFill>
            <a:srgbClr val="D03B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8872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0–30 Days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474720" cy="3566160"/>
          </a:xfrm>
          <a:prstGeom prst="roundRect">
            <a:avLst>
              <a:gd name="adj" fmla="val 2105"/>
            </a:avLst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031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Fix SQL injection (parameterized queries)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31546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Disable directory listing; remove exposed backups/credentials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42062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Enforce server-side admin role checks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51960" y="1188720"/>
            <a:ext cx="3474720" cy="594360"/>
          </a:xfrm>
          <a:prstGeom prst="roundRect">
            <a:avLst>
              <a:gd name="adj" fmla="val 12308"/>
            </a:avLst>
          </a:prstGeom>
          <a:solidFill>
            <a:srgbClr val="FAB219"/>
          </a:solidFill>
          <a:ln/>
        </p:spPr>
      </p:sp>
      <p:sp>
        <p:nvSpPr>
          <p:cNvPr id="10" name="Text 8"/>
          <p:cNvSpPr/>
          <p:nvPr/>
        </p:nvSpPr>
        <p:spPr>
          <a:xfrm>
            <a:off x="4251960" y="118872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30–90 Days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51960" y="1874520"/>
            <a:ext cx="3474720" cy="3566160"/>
          </a:xfrm>
          <a:prstGeom prst="roundRect">
            <a:avLst>
              <a:gd name="adj" fmla="val 2105"/>
            </a:avLst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21031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PCI DSS gap assessment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480560" y="31546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Formalize &amp; test incident response plan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480560" y="42062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Launch recurring security awareness training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55280" y="1188720"/>
            <a:ext cx="3474720" cy="594360"/>
          </a:xfrm>
          <a:prstGeom prst="roundRect">
            <a:avLst>
              <a:gd name="adj" fmla="val 12308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955280" y="118872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Ongoing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955280" y="1874520"/>
            <a:ext cx="3474720" cy="3566160"/>
          </a:xfrm>
          <a:prstGeom prst="roundRect">
            <a:avLst>
              <a:gd name="adj" fmla="val 2105"/>
            </a:avLst>
          </a:prstGeom>
          <a:solidFill>
            <a:srgbClr val="F4F6FB"/>
          </a:solidFill>
          <a:ln/>
        </p:spPr>
      </p:sp>
      <p:sp>
        <p:nvSpPr>
          <p:cNvPr id="18" name="Text 16"/>
          <p:cNvSpPr/>
          <p:nvPr/>
        </p:nvSpPr>
        <p:spPr>
          <a:xfrm>
            <a:off x="8183880" y="21031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Quarterly access reviews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183880" y="31546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Regular penetration testing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183880" y="42062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Vendor security audits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Waffarah Enterprise Risk Assessment — Confidential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961120" y="65105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Joud Alhussain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114800" cy="4114800"/>
          </a:xfrm>
          <a:prstGeom prst="ellipse">
            <a:avLst/>
          </a:prstGeom>
          <a:solidFill>
            <a:srgbClr val="26317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6517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Joud Alhussain  |  Cybersecurity Specialist  |  joudalhussain2@gmail.com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2026-08-21T21:42:01Z</dcterms:created>
  <dcterms:modified xsi:type="dcterms:W3CDTF">2026-08-21T21:42:01Z</dcterms:modified>
</cp:coreProperties>
</file>