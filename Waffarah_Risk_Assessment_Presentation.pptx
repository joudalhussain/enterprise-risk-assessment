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66"/>
              </a:solidFill>
              <a:effectLst/>
            </c:spPr>
          </c:dPt>
          <c:dPt>
            <c:idx val="1"/>
            <c:bubble3D val="0"/>
            <c:spPr>
              <a:solidFill>
                <a:srgbClr val="3F6355"/>
              </a:solidFill>
              <a:effectLst/>
            </c:spPr>
          </c:dPt>
          <c:dPt>
            <c:idx val="2"/>
            <c:bubble3D val="0"/>
            <c:spPr>
              <a:solidFill>
                <a:srgbClr val="C7D6E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Mitigate</c:v>
                </c:pt>
                <c:pt idx="1">
                  <c:v>Mitigate/Transfer</c:v>
                </c:pt>
                <c:pt idx="2">
                  <c:v>Accept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1272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Waffarah's Risk, Mapped and Prioritized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0" cy="0"/>
          </a:xfrm>
          <a:prstGeom prst="line">
            <a:avLst/>
          </a:prstGeom>
          <a:noFill/>
          <a:ln w="31750">
            <a:solidFill>
              <a:srgbClr val="A965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risks assessed  ·  4 critical  ·  one clear path forward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Waffarah Leadership  |  August 2026  |  Joud Alhussain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Root Cause Drives Most Critical Risk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risks trace back to the same two fixable gaps: input validation and access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1F3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5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1F3F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3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1F3F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350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19659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1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63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77824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Planned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879592"/>
            <a:ext cx="457200" cy="0"/>
          </a:xfrm>
          <a:prstGeom prst="line">
            <a:avLst/>
          </a:prstGeom>
          <a:noFill/>
          <a:ln w="25400">
            <a:solidFill>
              <a:srgbClr val="A965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SQL injection and enforcing access control resolves the majority of critical exposure in one coordinated effort.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Recognized Process, Not Guesswork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was assessed using ISO/IEC 27005 — the same framework behind our certification track.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4A5C6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87752"/>
            <a:ext cx="384048" cy="384048"/>
          </a:xfrm>
          <a:prstGeom prst="ellipse">
            <a:avLst/>
          </a:prstGeom>
          <a:solidFill>
            <a:srgbClr val="3F635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42316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15768" y="24231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F6355"/>
          </a:solidFill>
          <a:ln/>
        </p:spPr>
      </p:sp>
      <p:sp>
        <p:nvSpPr>
          <p:cNvPr id="11" name="Shape 9"/>
          <p:cNvSpPr/>
          <p:nvPr/>
        </p:nvSpPr>
        <p:spPr>
          <a:xfrm>
            <a:off x="2852928" y="2587752"/>
            <a:ext cx="384048" cy="384048"/>
          </a:xfrm>
          <a:prstGeom prst="ellipse">
            <a:avLst/>
          </a:prstGeom>
          <a:solidFill>
            <a:srgbClr val="4A5C66"/>
          </a:solidFill>
          <a:ln/>
        </p:spPr>
      </p:sp>
      <p:sp>
        <p:nvSpPr>
          <p:cNvPr id="12" name="Text 10"/>
          <p:cNvSpPr/>
          <p:nvPr/>
        </p:nvSpPr>
        <p:spPr>
          <a:xfrm>
            <a:off x="2852928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52928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728" y="242316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82896" y="24231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4A5C6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0056" y="2587752"/>
            <a:ext cx="384048" cy="384048"/>
          </a:xfrm>
          <a:prstGeom prst="ellipse">
            <a:avLst/>
          </a:prstGeom>
          <a:solidFill>
            <a:srgbClr val="3F635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0056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0056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48856" y="242316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50024" y="24231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3F6355"/>
          </a:solidFill>
          <a:ln/>
        </p:spPr>
      </p:sp>
      <p:sp>
        <p:nvSpPr>
          <p:cNvPr id="21" name="Shape 19"/>
          <p:cNvSpPr/>
          <p:nvPr/>
        </p:nvSpPr>
        <p:spPr>
          <a:xfrm>
            <a:off x="7187184" y="2587752"/>
            <a:ext cx="384048" cy="384048"/>
          </a:xfrm>
          <a:prstGeom prst="ellipse">
            <a:avLst/>
          </a:prstGeom>
          <a:solidFill>
            <a:srgbClr val="4A5C66"/>
          </a:solidFill>
          <a:ln/>
        </p:spPr>
      </p:sp>
      <p:sp>
        <p:nvSpPr>
          <p:cNvPr id="22" name="Text 20"/>
          <p:cNvSpPr/>
          <p:nvPr/>
        </p:nvSpPr>
        <p:spPr>
          <a:xfrm>
            <a:off x="7187184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87184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15984" y="2423160"/>
            <a:ext cx="201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17152" y="24231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4A5C6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54312" y="2587752"/>
            <a:ext cx="384048" cy="384048"/>
          </a:xfrm>
          <a:prstGeom prst="ellipse">
            <a:avLst/>
          </a:prstGeom>
          <a:solidFill>
            <a:srgbClr val="3F6355"/>
          </a:solidFill>
          <a:ln/>
        </p:spPr>
      </p:sp>
      <p:sp>
        <p:nvSpPr>
          <p:cNvPr id="27" name="Text 25"/>
          <p:cNvSpPr/>
          <p:nvPr/>
        </p:nvSpPr>
        <p:spPr>
          <a:xfrm>
            <a:off x="935431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54312" y="3081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879592"/>
            <a:ext cx="457200" cy="0"/>
          </a:xfrm>
          <a:prstGeom prst="line">
            <a:avLst/>
          </a:prstGeom>
          <a:noFill/>
          <a:ln w="25400">
            <a:solidFill>
              <a:srgbClr val="A965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scored on Confidentiality, Integrity, Availability; risks scored by Likelihood × Impact — consistent with our prior technical assessment.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Mapped What Matters Before Assessing Risk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asset types carry Waffarah's real value — data, systems, and the people/process behind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3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4A5C6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card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 credentials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PII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9659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9659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3F63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965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panel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database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9659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1F3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96596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3D6E8A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965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Process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Privileged accounts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Vendor access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879592"/>
            <a:ext cx="457200" cy="0"/>
          </a:xfrm>
          <a:prstGeom prst="line">
            <a:avLst/>
          </a:prstGeom>
          <a:noFill/>
          <a:ln w="25400">
            <a:solidFill>
              <a:srgbClr val="A965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data and admin access appear in nearly every top-rated risk.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Risks Demand Immediate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was independently confirmed in our technical assessment — not theoretical.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1F3F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B336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 &amp; Broken Access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bypasses login, granting full admin access.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1F3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194560"/>
            <a:ext cx="457200" cy="457200"/>
          </a:xfrm>
          <a:prstGeom prst="ellipse">
            <a:avLst/>
          </a:prstGeom>
          <a:solidFill>
            <a:srgbClr val="B336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2148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Exposure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file found exposed in a public directory.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1F3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B336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Card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at rest and in transit.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93192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1F3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A965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Root Cause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access-control fixes resolve most of these together.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Concentrates in One Corner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High-likelihood, high-impact risks cluster together — focused effort yields outsized results.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214884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1F3F2"/>
          </a:solidFill>
          <a:ln/>
        </p:spPr>
      </p:sp>
      <p:sp>
        <p:nvSpPr>
          <p:cNvPr id="7" name="Shape 5"/>
          <p:cNvSpPr/>
          <p:nvPr/>
        </p:nvSpPr>
        <p:spPr>
          <a:xfrm>
            <a:off x="5367528" y="214884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D97A3F"/>
          </a:solidFill>
          <a:ln/>
        </p:spPr>
      </p:sp>
      <p:sp>
        <p:nvSpPr>
          <p:cNvPr id="8" name="Text 6"/>
          <p:cNvSpPr/>
          <p:nvPr/>
        </p:nvSpPr>
        <p:spPr>
          <a:xfrm>
            <a:off x="5458968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exposure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17536" y="2148840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B3362B"/>
          </a:solidFill>
          <a:ln/>
        </p:spPr>
      </p:sp>
      <p:sp>
        <p:nvSpPr>
          <p:cNvPr id="10" name="Text 8"/>
          <p:cNvSpPr/>
          <p:nvPr/>
        </p:nvSpPr>
        <p:spPr>
          <a:xfrm>
            <a:off x="7808976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→ 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Payment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218688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D9A62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32186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67528" y="3218688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D97A3F"/>
          </a:solidFill>
          <a:ln/>
        </p:spPr>
      </p:sp>
      <p:sp>
        <p:nvSpPr>
          <p:cNvPr id="15" name="Text 13"/>
          <p:cNvSpPr/>
          <p:nvPr/>
        </p:nvSpPr>
        <p:spPr>
          <a:xfrm>
            <a:off x="5458968" y="32186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exploitation,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17536" y="3218688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1F3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4288536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F1F3F2"/>
          </a:solidFill>
          <a:ln/>
        </p:spPr>
      </p:sp>
      <p:sp>
        <p:nvSpPr>
          <p:cNvPr id="19" name="Shape 17"/>
          <p:cNvSpPr/>
          <p:nvPr/>
        </p:nvSpPr>
        <p:spPr>
          <a:xfrm>
            <a:off x="5367528" y="4288536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D9A62B"/>
          </a:solidFill>
          <a:ln/>
        </p:spPr>
      </p:sp>
      <p:sp>
        <p:nvSpPr>
          <p:cNvPr id="20" name="Text 18"/>
          <p:cNvSpPr/>
          <p:nvPr/>
        </p:nvSpPr>
        <p:spPr>
          <a:xfrm>
            <a:off x="5458968" y="4288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manipulation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17536" y="4288536"/>
            <a:ext cx="2286000" cy="1005840"/>
          </a:xfrm>
          <a:prstGeom prst="roundRect">
            <a:avLst>
              <a:gd name="adj" fmla="val 5455"/>
            </a:avLst>
          </a:prstGeom>
          <a:solidFill>
            <a:srgbClr val="3E7D4A"/>
          </a:solidFill>
          <a:ln/>
        </p:spPr>
      </p:sp>
      <p:sp>
        <p:nvSpPr>
          <p:cNvPr id="22" name="Text 20"/>
          <p:cNvSpPr/>
          <p:nvPr/>
        </p:nvSpPr>
        <p:spPr>
          <a:xfrm>
            <a:off x="7808976" y="4288536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record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67528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17536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5349240"/>
            <a:ext cx="201168" cy="201168"/>
          </a:xfrm>
          <a:prstGeom prst="roundRect">
            <a:avLst/>
          </a:prstGeom>
          <a:solidFill>
            <a:srgbClr val="B3362B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5349240"/>
            <a:ext cx="201168" cy="201168"/>
          </a:xfrm>
          <a:prstGeom prst="roundRect">
            <a:avLst/>
          </a:prstGeom>
          <a:solidFill>
            <a:srgbClr val="D97A3F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5349240"/>
            <a:ext cx="201168" cy="201168"/>
          </a:xfrm>
          <a:prstGeom prst="roundRect">
            <a:avLst/>
          </a:prstGeom>
          <a:solidFill>
            <a:srgbClr val="D9A62B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18120" y="5349240"/>
            <a:ext cx="201168" cy="201168"/>
          </a:xfrm>
          <a:prstGeom prst="roundRect">
            <a:avLst/>
          </a:prstGeom>
          <a:solidFill>
            <a:srgbClr val="3E7D4A"/>
          </a:solidFill>
          <a:ln/>
        </p:spPr>
      </p:sp>
      <p:sp>
        <p:nvSpPr>
          <p:cNvPr id="33" name="Text 31"/>
          <p:cNvSpPr/>
          <p:nvPr/>
        </p:nvSpPr>
        <p:spPr>
          <a:xfrm>
            <a:off x="8110728" y="5303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879592"/>
            <a:ext cx="457200" cy="0"/>
          </a:xfrm>
          <a:prstGeom prst="line">
            <a:avLst/>
          </a:prstGeom>
          <a:noFill/>
          <a:ln w="25400">
            <a:solidFill>
              <a:srgbClr val="A965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top-right cell alone accounts for our two most damaging risks.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Risk Has an Owner and a Plan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15 risks are being actively mitigated. None are left unaddressed.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4023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210312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F1F3F2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0" y="2103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risks require active technical or process controls — the core of this plan.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937760" y="384048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F1F3F2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3840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low-severity risk is consciously Accepted, not ignored — not every risk warrants investment.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Starts Within 30 Days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technical fixes, short-term process work, then ongoing governance.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B336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0–30 Days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1F3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 SQL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 exposed backups &amp; credentials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0116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D9A62B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30–90 Days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51960" y="26517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1F3F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PCI DSS gap assessment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 incident response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0116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4A5C66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55280" y="26517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1F3F2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Quarterly access reviews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3657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Regular penetration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879592"/>
            <a:ext cx="457200" cy="0"/>
          </a:xfrm>
          <a:prstGeom prst="line">
            <a:avLst/>
          </a:prstGeom>
          <a:noFill/>
          <a:ln w="25400">
            <a:solidFill>
              <a:srgbClr val="A965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73328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alone resolves all four critical risks.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Waffarah Enterprise Risk Assessment — Confidential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0" y="6537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429000"/>
            <a:ext cx="1097280" cy="0"/>
          </a:xfrm>
          <a:prstGeom prst="line">
            <a:avLst/>
          </a:prstGeom>
          <a:noFill/>
          <a:ln w="31750">
            <a:solidFill>
              <a:srgbClr val="A965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Alhussain  |  Cybersecurity Specialist  |  joudalhussain2@gmail.com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2026-09-01T17:42:27Z</dcterms:created>
  <dcterms:modified xsi:type="dcterms:W3CDTF">2026-09-01T17:42:27Z</dcterms:modified>
</cp:coreProperties>
</file>